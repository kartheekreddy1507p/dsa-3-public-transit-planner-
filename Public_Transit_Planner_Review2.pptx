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Key Metrics: Before vs After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Optimization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 Coverage (%)</c:v>
                  </c:pt>
                  <c:pt idx="1">
                    <c:v>Fleet Utilization (%)</c:v>
                  </c:pt>
                  <c:pt idx="2">
                    <c:v>Avg Wait Time (min)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61</c:v>
                </c:pt>
                <c:pt idx="2">
                  <c:v>14.5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Optimization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 Coverage (%)</c:v>
                  </c:pt>
                  <c:pt idx="1">
                    <c:v>Fleet Utilization (%)</c:v>
                  </c:pt>
                  <c:pt idx="2">
                    <c:v>Avg Wait Time (min)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</c:v>
                </c:pt>
                <c:pt idx="1">
                  <c:v>82</c:v>
                </c:pt>
                <c:pt idx="2">
                  <c:v>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B27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C7293"/>
          </a:solidFill>
          <a:ln/>
        </p:spPr>
      </p:sp>
      <p:pic>
        <p:nvPicPr>
          <p:cNvPr id="5" name="Image 0" descr="/home/claude/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786384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26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649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Results &amp; Performance Evaluation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- 3 (25CS2103E)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367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30  |  Section 10  |  A.Y. 2026-2027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6601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Reddy (2520090015)   •   Danush Raj (2520080046)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9527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Mrs. Chandusha Kanda, Asst. Professor, CS&amp;IT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stood after Review 1, and what this phase delivers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Review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problem: optimize routes &amp; timetables under fleet and budget limits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and cleaned transit stop, demand, and travel-time data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graph model — stops as nodes, connections as weighted edges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prior work on graph-based transit planning and multi-criteria routing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software/hardware requirements and end-to-end methodology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371600"/>
            <a:ext cx="5715000" cy="4160520"/>
          </a:xfrm>
          <a:prstGeom prst="roundRect">
            <a:avLst>
              <a:gd name="adj" fmla="val 1319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— Review 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1031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Dijkstra / A* based route optimization on the modeled graph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demand-driven timetables from cleaned passenger data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performance: coverage, wait time, fleet utilization, cost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before/after scenarios through analytics dashboards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challenges, learnings, and scope for future enhancement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Review 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 connecting data, algorithms, and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67205" cy="2514600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0762" y="2103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pic>
        <p:nvPicPr>
          <p:cNvPr id="6" name="Image 0" descr="/home/claude/icon_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382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2880360"/>
            <a:ext cx="1647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310128"/>
            <a:ext cx="159288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transit stop, demand &amp; travel-time records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324405" y="2880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80437" y="1828800"/>
            <a:ext cx="1867205" cy="2514600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193999" y="2103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pic>
        <p:nvPicPr>
          <p:cNvPr id="12" name="Image 1" descr="/home/claude/icon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618" y="225673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90165" y="2880360"/>
            <a:ext cx="1647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717597" y="3310128"/>
            <a:ext cx="159288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 of stops, edges &amp; travel costs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447642" y="2880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703674" y="1828800"/>
            <a:ext cx="1867205" cy="2514600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5317236" y="2103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pic>
        <p:nvPicPr>
          <p:cNvPr id="18" name="Image 2" descr="/home/claude/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855" y="225673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13402" y="2880360"/>
            <a:ext cx="1647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Engine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840834" y="3310128"/>
            <a:ext cx="159288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A* &amp; heuristic route optimization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570878" y="2880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826910" y="1828800"/>
            <a:ext cx="1867205" cy="2514600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440473" y="2103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pic>
        <p:nvPicPr>
          <p:cNvPr id="24" name="Image 3" descr="/home/claude/icon_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092" y="225673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36638" y="2880360"/>
            <a:ext cx="1647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Generator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964070" y="3310128"/>
            <a:ext cx="159288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Demand-based scheduling &amp; fleet allocation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694115" y="2880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8950147" y="1828800"/>
            <a:ext cx="1867205" cy="2514600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9563710" y="2103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pic>
        <p:nvPicPr>
          <p:cNvPr id="30" name="Image 4" descr="/home/claude/icon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7329" y="225673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059875" y="2880360"/>
            <a:ext cx="1647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087307" y="3310128"/>
            <a:ext cx="159288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 &amp; scenario comparison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Review 2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 powering route optimization and scheduling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27050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8928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pic>
        <p:nvPicPr>
          <p:cNvPr id="6" name="Image 0" descr="/home/claude/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2013509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7452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560320"/>
            <a:ext cx="2868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shortest and most cost-efficient paths between stop pairs on the weighted graph.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002024" y="1691640"/>
            <a:ext cx="327050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203192" y="18928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pic>
        <p:nvPicPr>
          <p:cNvPr id="11" name="Image 1" descr="/home/claude/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893" y="201350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24984" y="187452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203192" y="2560320"/>
            <a:ext cx="2868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Heuristic-guided routing that scales efficiently on larger, denser transit networks.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546848" y="1691640"/>
            <a:ext cx="327050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48016" y="18928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pic>
        <p:nvPicPr>
          <p:cNvPr id="16" name="Image 2" descr="/home/claude/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717" y="201350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9808" y="187452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Optimization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7748016" y="2560320"/>
            <a:ext cx="2868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route-selection to maximize coverage while respecting fleet and budget limits.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703320"/>
            <a:ext cx="327050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pic>
        <p:nvPicPr>
          <p:cNvPr id="21" name="Image 3" descr="/home/claude/icon_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9" y="402518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88620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Demand-Based Scheduling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58368" y="4572000"/>
            <a:ext cx="2868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timetables from passenger demand curves and available vehicle capacity.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002024" y="3703320"/>
            <a:ext cx="327050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203192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pic>
        <p:nvPicPr>
          <p:cNvPr id="26" name="Image 4" descr="/home/claude/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893" y="4025189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824984" y="388620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Scoring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203192" y="4572000"/>
            <a:ext cx="2868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travel time, cost, and transfers together when ranking candidate routes.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546848" y="3703320"/>
            <a:ext cx="327050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7748016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pic>
        <p:nvPicPr>
          <p:cNvPr id="31" name="Image 5" descr="/home/claude/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8717" y="4025189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69808" y="388620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7748016" y="4572000"/>
            <a:ext cx="2868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ranks alternative planning scenarios across all key metrics.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Review 2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across each module of the pipeline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4480560"/>
        </p:xfrm>
        <a:graphic>
          <a:graphicData uri="http://schemas.openxmlformats.org/drawingml/2006/table">
            <a:tbl>
              <a:tblPr/>
              <a:tblGrid>
                <a:gridCol w="3108960"/>
                <a:gridCol w="6062472"/>
                <a:gridCol w="21031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&amp; structuring stop, demand and travel-time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as nodes; feasible connections as weighted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/ A* with heuristic coverage-cost balancing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Timetable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Demand-based scheduling against fleet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scenario comparison &amp;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Review 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Performance Metrics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applying graph-based route optimization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409651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81812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4D"/>
          </a:solidFill>
          <a:ln/>
        </p:spPr>
      </p:sp>
      <p:pic>
        <p:nvPicPr>
          <p:cNvPr id="7" name="Image 0" descr="/home/claude/icon_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821" y="190378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5820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 pts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45820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coverage improvement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635240" y="3063240"/>
            <a:ext cx="409651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7818120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pic>
        <p:nvPicPr>
          <p:cNvPr id="12" name="Image 1" descr="/home/claude/icon_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821" y="341254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5820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 pts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45820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utilization improvement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635240" y="4572000"/>
            <a:ext cx="409651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7818120" y="4800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pic>
        <p:nvPicPr>
          <p:cNvPr id="17" name="Image 2" descr="/home/claude/icon_d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821" y="492130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5820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−43%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458200" y="5166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average wait time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Review 2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Sample Network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mid-size city network used to validate the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6B77"/>
          </a:solidFill>
          <a:ln/>
        </p:spPr>
      </p:sp>
      <p:pic>
        <p:nvPicPr>
          <p:cNvPr id="6" name="Image 0" descr="/home/claude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31213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Optimization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routes, manually adjusted from legacy schedules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stops with overlapping, redundant coverage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waiting time averaging 14.5 minutes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utilization uneven across depots (61% avg)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554480"/>
            <a:ext cx="5742432" cy="3200400"/>
          </a:xfrm>
          <a:prstGeom prst="roundRect">
            <a:avLst>
              <a:gd name="adj" fmla="val 1714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8105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pic>
        <p:nvPicPr>
          <p:cNvPr id="11" name="Image 1" descr="/home/claude/icon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61" y="193121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944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Optimization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514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optimized routes covering the same demand area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segments merged via graph-based shortest paths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waiting time reduced to 8.2 minutes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utilization balanced across depots (82% avg)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937760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E4EE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51937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pic>
        <p:nvPicPr>
          <p:cNvPr id="16" name="Image 2" descr="/home/claude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531449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93776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fewer, smarter routes serving the same demand — shorter waits and better-balanced fleet usage across depots.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Review 2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Key Learnings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encountered during implementation and how they were addressed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04291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pic>
        <p:nvPicPr>
          <p:cNvPr id="6" name="Image 0" descr="/home/claude/icon_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20519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92808"/>
            <a:ext cx="3854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60320"/>
            <a:ext cx="4585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timestamps and missing stop records required a stricter cleaning &amp; validation pipeline.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74436" y="1691640"/>
            <a:ext cx="504291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003036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pic>
        <p:nvPicPr>
          <p:cNvPr id="11" name="Image 1" descr="/home/claude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710" y="20519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34556" y="1892808"/>
            <a:ext cx="3854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Scale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003036" y="2560320"/>
            <a:ext cx="4585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search on denser graphs needed A* with admissible heuristics to stay responsive.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840480"/>
            <a:ext cx="504291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4069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pic>
        <p:nvPicPr>
          <p:cNvPr id="16" name="Image 2" descr="/home/claude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4200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041648"/>
            <a:ext cx="3854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Trade-offs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4709160"/>
            <a:ext cx="4585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coverage, cost, and wait time required careful weighting rather than a single objective.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774436" y="3840480"/>
            <a:ext cx="504291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003036" y="4069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pic>
        <p:nvPicPr>
          <p:cNvPr id="21" name="Image 3" descr="/home/claude/icon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710" y="42007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34556" y="4041648"/>
            <a:ext cx="3854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Calibration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003036" y="4709160"/>
            <a:ext cx="4585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tuning against real demand patterns was needed before results stabilized.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Review 2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B27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Public Transit Planner stands, and what comes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2635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modeling with Dijkstra/A* delivers measurably better coverage and cost efficiency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Demand-based timetabling significantly reduces average passenger wait times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comfortably on commodity hardware, in line with the project's 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317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GPS feeds for live route and delay adjustments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dashboard into a mobile app for commuters and planners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 to forecast demand shifts and seasonal patterns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graph model to multi-city and multi-modal transit networks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2026-09-11T05:28:24Z</dcterms:created>
  <dcterms:modified xsi:type="dcterms:W3CDTF">2026-09-11T05:28:24Z</dcterms:modified>
</cp:coreProperties>
</file>