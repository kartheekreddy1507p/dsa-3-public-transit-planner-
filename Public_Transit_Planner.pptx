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icon_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" y="102687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TRANSIT PLANNER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System for Optimizing Public Transportation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and Timetables under Fleet &amp; Budget Constraints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25196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 - 3 (25CS2103E)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30  |  Section 10  |  A.Y. 2026-2027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Kartheek Reddy (2520090015)   •   Danush Raj (2520080046)
</a:t>
            </a:r>
            <a:pPr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Mrs. Chandusha Kanda, Asst. Professor, CS&amp;IT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Public Transit Planner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720840" cy="4709160"/>
          </a:xfrm>
          <a:prstGeom prst="roundRect">
            <a:avLst>
              <a:gd name="adj" fmla="val 1553"/>
            </a:avLst>
          </a:prstGeom>
          <a:solidFill>
            <a:srgbClr val="F3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37944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709928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and cleans transit stop, passenger demand, and travel-time data to ensure accuracy and consistency.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73405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6060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graph-based routing and optimization techniques to identify routes that maximize coverage and minimize travel time &amp; operating cost.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63016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502152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practical timetables based on demand patterns and vehicle availability.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52628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4398264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performance using route coverage, average waiting time, fleet utilization, and operational expense metrics.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542239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5294376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interactive reports and visualizations that compare planning scenarios to support informed decisions.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543800" y="1600200"/>
            <a:ext cx="4069080" cy="1325880"/>
          </a:xfrm>
          <a:prstGeom prst="roundRect">
            <a:avLst>
              <a:gd name="adj" fmla="val 6207"/>
            </a:avLst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1856232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0" descr="/home/claude/icon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6370" y="2070202"/>
            <a:ext cx="395021" cy="39502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778240" y="1764792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543800" y="3172968"/>
            <a:ext cx="4069080" cy="1325880"/>
          </a:xfrm>
          <a:prstGeom prst="roundRect">
            <a:avLst>
              <a:gd name="adj" fmla="val 6207"/>
            </a:avLst>
          </a:prstGeom>
          <a:solidFill>
            <a:srgbClr val="065A82"/>
          </a:solidFill>
          <a:ln/>
        </p:spPr>
      </p:sp>
      <p:sp>
        <p:nvSpPr>
          <p:cNvPr id="20" name="Shape 17"/>
          <p:cNvSpPr/>
          <p:nvPr/>
        </p:nvSpPr>
        <p:spPr>
          <a:xfrm>
            <a:off x="7772400" y="3429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1" descr="/home/claude/icon_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370" y="3642970"/>
            <a:ext cx="395021" cy="39502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78240" y="33375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7543800" y="4745736"/>
            <a:ext cx="4069080" cy="1325880"/>
          </a:xfrm>
          <a:prstGeom prst="roundRect">
            <a:avLst>
              <a:gd name="adj" fmla="val 6207"/>
            </a:avLst>
          </a:prstGeom>
          <a:solidFill>
            <a:srgbClr val="065A82"/>
          </a:solidFill>
          <a:ln/>
        </p:spPr>
      </p:sp>
      <p:sp>
        <p:nvSpPr>
          <p:cNvPr id="24" name="Shape 20"/>
          <p:cNvSpPr/>
          <p:nvPr/>
        </p:nvSpPr>
        <p:spPr>
          <a:xfrm>
            <a:off x="7772400" y="5001768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2" descr="/home/claude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370" y="5215738"/>
            <a:ext cx="395021" cy="395021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778240" y="4910328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  |  DSA-3 Project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informing the design of this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3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73352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73352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52728" y="1636776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Ostensive Public Transportation Graph (OPTG)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 &amp; Mete unify distance, time, fare, transfers, and walking into a single weighted graph model for multi-criteria journey planning.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3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73952" y="1673352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673352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3448" y="1636776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Graph-Based Journey Planning (Kathmandu Valley)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205740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routing on travel time, cost, transfers, and walking distance; reported an 18% reduction in average journey time.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3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410712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410712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52728" y="3374136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Dijkstra-Based Bus Network Routing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379476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and most cost-efficient path computation applied to a city bus network, balancing travel efficiency and fare affordability.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3246120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3F7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3952" y="3410712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410712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3448" y="3374136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Analysis of City Bus Networks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92240" y="379476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peak/off-peak and weekday/weekend connectivity patterns to identify high-value transfer points and efficient routes.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3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5148072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148072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52728" y="5111496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Graph-Theoretic Evaluation of Transit Development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" y="553212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Network-science indicators used for rapid, comparative evaluation of alternative fixed-route transit expansion plans.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4983480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3F7F9"/>
          </a:solidFill>
          <a:ln/>
        </p:spPr>
      </p:sp>
      <p:sp>
        <p:nvSpPr>
          <p:cNvPr id="30" name="Shape 28"/>
          <p:cNvSpPr/>
          <p:nvPr/>
        </p:nvSpPr>
        <p:spPr>
          <a:xfrm>
            <a:off x="6473952" y="5148072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5148072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13448" y="5111496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Review: Bus Transit Network Design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92240" y="553212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analytical and mathematical-programming approaches (1968-2021) to timetabling and route design, mapping open research gaps.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  |  DSA-3 Project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 used to build the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481328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92224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29968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6916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28800" y="207568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 (core logic), C++ optional for performance-critical modules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508760"/>
            <a:ext cx="5440680" cy="1481328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/>
        </p:spPr>
      </p:sp>
      <p:sp>
        <p:nvSpPr>
          <p:cNvPr id="10" name="Shape 7"/>
          <p:cNvSpPr/>
          <p:nvPr/>
        </p:nvSpPr>
        <p:spPr>
          <a:xfrm>
            <a:off x="6510528" y="1792224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icon_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029968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16916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Frameworks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589520" y="207568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(graph algorithms), NumPy &amp; Pandas (data handling), Matplotlib/Plotly (visualization)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5440680" cy="1481328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529584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icon_do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67328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4290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Editor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828800" y="381304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or PyCharm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09360" y="3246120"/>
            <a:ext cx="5440680" cy="1481328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/>
        </p:spPr>
      </p:sp>
      <p:sp>
        <p:nvSpPr>
          <p:cNvPr id="20" name="Shape 15"/>
          <p:cNvSpPr/>
          <p:nvPr/>
        </p:nvSpPr>
        <p:spPr>
          <a:xfrm>
            <a:off x="6510528" y="3529584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icon_d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3767328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34290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589520" y="381304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for development, MySQL/PostgreSQL for scaled deployment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983480"/>
            <a:ext cx="5440680" cy="1481328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5266944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icon_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504688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8800" y="51663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OS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828800" y="555040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source control; Windows / Linux compatible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309360" y="4983480"/>
            <a:ext cx="5440680" cy="1481328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/>
        </p:spPr>
      </p:sp>
      <p:sp>
        <p:nvSpPr>
          <p:cNvPr id="30" name="Shape 23"/>
          <p:cNvSpPr/>
          <p:nvPr/>
        </p:nvSpPr>
        <p:spPr>
          <a:xfrm>
            <a:off x="6510528" y="5266944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icon_chi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5504688"/>
            <a:ext cx="438912" cy="4389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89520" y="51663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Reporting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589520" y="555040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for unit testing; Jupyter Notebook for scenario analysis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  |  DSA-3 Project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Requirements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system configuration for development and testing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40880" cy="4663440"/>
          </a:xfrm>
          <a:prstGeom prst="roundRect">
            <a:avLst>
              <a:gd name="adj" fmla="val 1569"/>
            </a:avLst>
          </a:prstGeom>
          <a:solidFill>
            <a:srgbClr val="F3F7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178308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i5 (10th Gen) / AMD Ryzen 5 or higher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2404872"/>
            <a:ext cx="6400800" cy="0"/>
          </a:xfrm>
          <a:prstGeom prst="line">
            <a:avLst/>
          </a:prstGeom>
          <a:noFill/>
          <a:ln w="12700">
            <a:solidFill>
              <a:srgbClr val="DC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9631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49631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minimum — 16 GB recommended for large graph datasets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118104"/>
            <a:ext cx="6400800" cy="0"/>
          </a:xfrm>
          <a:prstGeom prst="line">
            <a:avLst/>
          </a:prstGeom>
          <a:noFill/>
          <a:ln w="12700">
            <a:solidFill>
              <a:srgbClr val="DC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09544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3209544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GB SSD (faster I/O for data preprocessing &amp; simulation runs)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3831336"/>
            <a:ext cx="6400800" cy="0"/>
          </a:xfrm>
          <a:prstGeom prst="line">
            <a:avLst/>
          </a:prstGeom>
          <a:noFill/>
          <a:ln w="12700">
            <a:solidFill>
              <a:srgbClr val="DC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22776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3922776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GPU sufficient; dedicated GPU optional for large-scale simulation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4544568"/>
            <a:ext cx="6400800" cy="0"/>
          </a:xfrm>
          <a:prstGeom prst="line">
            <a:avLst/>
          </a:prstGeom>
          <a:noFill/>
          <a:ln w="12700">
            <a:solidFill>
              <a:srgbClr val="DCE6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3600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463600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internet connection for transit data collection &amp; updates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5257800"/>
            <a:ext cx="6400800" cy="0"/>
          </a:xfrm>
          <a:prstGeom prst="line">
            <a:avLst/>
          </a:prstGeom>
          <a:noFill/>
          <a:ln w="12700">
            <a:solidFill>
              <a:srgbClr val="DCE6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349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534924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 x 1080 resolution recommended for dashboard visualizations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818120" y="1554480"/>
            <a:ext cx="3794760" cy="4663440"/>
          </a:xfrm>
          <a:prstGeom prst="roundRect">
            <a:avLst>
              <a:gd name="adj" fmla="val 2169"/>
            </a:avLst>
          </a:prstGeom>
          <a:solidFill>
            <a:srgbClr val="21295C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214884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0" descr="/home/claude/icon_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3067" y="2457907"/>
            <a:ext cx="570586" cy="57058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092440" y="35661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comfortably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standard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092440" y="4526280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specialized hardware needed — the planner is designed to run efficiently on commodity systems used for coursework.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  |  DSA-3 Project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of the Public Transit Planner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30959" y="2514600"/>
            <a:ext cx="872703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9479" y="2103120"/>
            <a:ext cx="822960" cy="82296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19479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49808" y="3246120"/>
            <a:ext cx="1962302" cy="2514600"/>
          </a:xfrm>
          <a:prstGeom prst="roundRect">
            <a:avLst>
              <a:gd name="adj" fmla="val 3728"/>
            </a:avLst>
          </a:prstGeom>
          <a:solidFill>
            <a:srgbClr val="F3F7F9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3383280"/>
            <a:ext cx="174284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Cleaning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77824" y="4114800"/>
            <a:ext cx="170627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transit stop, passenger demand, and travel-time data; remove inconsistencies for a reliable base dataset.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01238" y="2103120"/>
            <a:ext cx="822960" cy="82296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1238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931566" y="3246120"/>
            <a:ext cx="1962302" cy="2514600"/>
          </a:xfrm>
          <a:prstGeom prst="roundRect">
            <a:avLst>
              <a:gd name="adj" fmla="val 3728"/>
            </a:avLst>
          </a:prstGeom>
          <a:solidFill>
            <a:srgbClr val="F3F7F9"/>
          </a:solidFill>
          <a:ln/>
        </p:spPr>
      </p:sp>
      <p:sp>
        <p:nvSpPr>
          <p:cNvPr id="13" name="Text 11"/>
          <p:cNvSpPr/>
          <p:nvPr/>
        </p:nvSpPr>
        <p:spPr>
          <a:xfrm>
            <a:off x="3041294" y="3383280"/>
            <a:ext cx="174284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59582" y="4114800"/>
            <a:ext cx="170627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stops as nodes and feasible connections as weighted edges (distance, time, cost).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82996" y="2103120"/>
            <a:ext cx="822960" cy="82296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2996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113325" y="3246120"/>
            <a:ext cx="1962302" cy="2514600"/>
          </a:xfrm>
          <a:prstGeom prst="roundRect">
            <a:avLst>
              <a:gd name="adj" fmla="val 3728"/>
            </a:avLst>
          </a:prstGeom>
          <a:solidFill>
            <a:srgbClr val="F3F7F9"/>
          </a:solidFill>
          <a:ln/>
        </p:spPr>
      </p:sp>
      <p:sp>
        <p:nvSpPr>
          <p:cNvPr id="18" name="Text 16"/>
          <p:cNvSpPr/>
          <p:nvPr/>
        </p:nvSpPr>
        <p:spPr>
          <a:xfrm>
            <a:off x="5223053" y="3383280"/>
            <a:ext cx="174284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41341" y="4114800"/>
            <a:ext cx="170627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shortest-path &amp; optimization algorithms to maximize coverage while minimizing travel time and operating cost.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64754" y="2103120"/>
            <a:ext cx="822960" cy="82296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4754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295083" y="3246120"/>
            <a:ext cx="1962302" cy="2514600"/>
          </a:xfrm>
          <a:prstGeom prst="roundRect">
            <a:avLst>
              <a:gd name="adj" fmla="val 3728"/>
            </a:avLst>
          </a:prstGeom>
          <a:solidFill>
            <a:srgbClr val="F3F7F9"/>
          </a:solidFill>
          <a:ln/>
        </p:spPr>
      </p:sp>
      <p:sp>
        <p:nvSpPr>
          <p:cNvPr id="23" name="Text 21"/>
          <p:cNvSpPr/>
          <p:nvPr/>
        </p:nvSpPr>
        <p:spPr>
          <a:xfrm>
            <a:off x="7404811" y="3383280"/>
            <a:ext cx="174284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Generation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23099" y="4114800"/>
            <a:ext cx="170627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practical schedules from demand patterns and available fleet capacity.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46513" y="2103120"/>
            <a:ext cx="822960" cy="82296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46513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9476842" y="3246120"/>
            <a:ext cx="1962302" cy="2514600"/>
          </a:xfrm>
          <a:prstGeom prst="roundRect">
            <a:avLst>
              <a:gd name="adj" fmla="val 3728"/>
            </a:avLst>
          </a:prstGeom>
          <a:solidFill>
            <a:srgbClr val="F3F7F9"/>
          </a:solidFill>
          <a:ln/>
        </p:spPr>
      </p:sp>
      <p:sp>
        <p:nvSpPr>
          <p:cNvPr id="28" name="Text 26"/>
          <p:cNvSpPr/>
          <p:nvPr/>
        </p:nvSpPr>
        <p:spPr>
          <a:xfrm>
            <a:off x="9586570" y="3383280"/>
            <a:ext cx="174284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Visualization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04858" y="4114800"/>
            <a:ext cx="170627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scenarios on coverage, wait time, fleet utilization &amp; cost; present via interactive reports.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Planner  |  DSA-3 Project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2026-08-18T02:50:49Z</dcterms:created>
  <dcterms:modified xsi:type="dcterms:W3CDTF">2026-08-18T02:50:49Z</dcterms:modified>
</cp:coreProperties>
</file>